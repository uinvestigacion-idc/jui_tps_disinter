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s-PE"/>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474"/>
    <a:srgbClr val="009C9D"/>
    <a:srgbClr val="009AD3"/>
    <a:srgbClr val="007C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defRPr sz="3600" b="1">
          <a:solidFill>
            <a:srgbClr val="E14A94"/>
          </a:solidFill>
          <a:latin typeface="Calibri"/>
        </a:defRPr>
      </a:lvl1pPr>
    </p:titleStyle>
    <p:bodyStyle>
      <a:lvl1pPr>
        <a:defRPr sz="1800">
          <a:solidFill>
            <a:srgbClr val="333333"/>
          </a:solidFill>
          <a:latin typeface="Calibri"/>
        </a:defRPr>
      </a:lvl1pPr>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4A94"/>
        </a:solidFill>
        <a:effectLst/>
      </p:bgPr>
    </p:bg>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009C9D"/>
          </a:solidFill>
          <a:ln>
            <a:noFill/>
          </a:ln>
        </p:spPr>
        <p:txBody>
          <a:bodyPr/>
          <a:lstStyle/>
          <a:p>
            <a:endParaRPr lang="es-PE"/>
          </a:p>
        </p:txBody>
      </p:sp>
      <p:sp>
        <p:nvSpPr>
          <p:cNvPr id="3" name="BG2"/>
          <p:cNvSpPr/>
          <p:nvPr/>
        </p:nvSpPr>
        <p:spPr>
          <a:xfrm>
            <a:off x="0" y="5943600"/>
            <a:ext cx="12192000" cy="914400"/>
          </a:xfrm>
          <a:prstGeom prst="rect">
            <a:avLst/>
          </a:prstGeom>
          <a:solidFill>
            <a:srgbClr val="007474"/>
          </a:solidFill>
          <a:ln>
            <a:noFill/>
          </a:ln>
        </p:spPr>
        <p:txBody>
          <a:bodyPr/>
          <a:lstStyle/>
          <a:p>
            <a:endParaRPr lang="es-PE"/>
          </a:p>
        </p:txBody>
      </p:sp>
      <p:pic>
        <p:nvPicPr>
          <p:cNvPr id="12" name="Gráfico 11">
            <a:extLst>
              <a:ext uri="{FF2B5EF4-FFF2-40B4-BE49-F238E27FC236}">
                <a16:creationId xmlns:a16="http://schemas.microsoft.com/office/drawing/2014/main" id="{A0687944-0625-2361-C875-52137AF621F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6975" y="6197565"/>
            <a:ext cx="528119" cy="528119"/>
          </a:xfrm>
          <a:prstGeom prst="rect">
            <a:avLst/>
          </a:prstGeom>
        </p:spPr>
      </p:pic>
      <p:sp>
        <p:nvSpPr>
          <p:cNvPr id="4" name="Tag"/>
          <p:cNvSpPr txBox="1"/>
          <p:nvPr/>
        </p:nvSpPr>
        <p:spPr>
          <a:xfrm>
            <a:off x="457200" y="1412365"/>
            <a:ext cx="11000000" cy="355600"/>
          </a:xfrm>
          <a:prstGeom prst="rect">
            <a:avLst/>
          </a:prstGeom>
          <a:noFill/>
        </p:spPr>
        <p:txBody>
          <a:bodyPr wrap="square" rtlCol="0" anchor="t">
            <a:noAutofit/>
          </a:bodyPr>
          <a:lstStyle/>
          <a:p>
            <a:pPr algn="ctr"/>
            <a:r>
              <a:rPr lang="es-PE" sz="1100" b="1" spc="200" dirty="0">
                <a:solidFill>
                  <a:srgbClr val="FFFFFF"/>
                </a:solidFill>
                <a:latin typeface="Consolas"/>
              </a:rPr>
              <a:t>LICENCIADO POR MINEDU – RVM N° 164-2025</a:t>
            </a:r>
          </a:p>
        </p:txBody>
      </p:sp>
      <p:sp>
        <p:nvSpPr>
          <p:cNvPr id="6" name="Sub"/>
          <p:cNvSpPr txBox="1"/>
          <p:nvPr/>
        </p:nvSpPr>
        <p:spPr>
          <a:xfrm>
            <a:off x="457200" y="5005993"/>
            <a:ext cx="11000000" cy="355600"/>
          </a:xfrm>
          <a:prstGeom prst="rect">
            <a:avLst/>
          </a:prstGeom>
          <a:noFill/>
        </p:spPr>
        <p:txBody>
          <a:bodyPr wrap="square" rtlCol="0" anchor="t">
            <a:noAutofit/>
          </a:bodyPr>
          <a:lstStyle/>
          <a:p>
            <a:pPr algn="ctr"/>
            <a:r>
              <a:rPr lang="es-PE" spc="160" dirty="0">
                <a:solidFill>
                  <a:srgbClr val="FBFAF6"/>
                </a:solidFill>
                <a:latin typeface="Consolas"/>
              </a:rPr>
              <a:t>Programa de Estudios Diseño de Interiores — ESP · Módulo III</a:t>
            </a:r>
          </a:p>
        </p:txBody>
      </p:sp>
      <p:sp>
        <p:nvSpPr>
          <p:cNvPr id="7" name="Tit"/>
          <p:cNvSpPr txBox="1"/>
          <p:nvPr/>
        </p:nvSpPr>
        <p:spPr>
          <a:xfrm>
            <a:off x="457200" y="2286000"/>
            <a:ext cx="11277600" cy="2438400"/>
          </a:xfrm>
          <a:prstGeom prst="rect">
            <a:avLst/>
          </a:prstGeom>
          <a:noFill/>
        </p:spPr>
        <p:txBody>
          <a:bodyPr wrap="square" rtlCol="0" anchor="t">
            <a:noAutofit/>
          </a:bodyPr>
          <a:lstStyle/>
          <a:p>
            <a:pPr algn="ctr"/>
            <a:r>
              <a:rPr lang="es-PE" sz="4000" b="1" spc="-30" dirty="0">
                <a:solidFill>
                  <a:srgbClr val="FFFFFF"/>
                </a:solidFill>
                <a:latin typeface="Calibri"/>
              </a:rPr>
              <a:t>Diseño interior y equipamiento de una cafetería de especialidad de 85 m² en el distrito de Barranco, Lima, 2025</a:t>
            </a:r>
          </a:p>
        </p:txBody>
      </p:sp>
      <p:sp>
        <p:nvSpPr>
          <p:cNvPr id="8" name="Aut"/>
          <p:cNvSpPr txBox="1"/>
          <p:nvPr/>
        </p:nvSpPr>
        <p:spPr>
          <a:xfrm>
            <a:off x="914400" y="6134100"/>
            <a:ext cx="11277600" cy="457200"/>
          </a:xfrm>
          <a:prstGeom prst="rect">
            <a:avLst/>
          </a:prstGeom>
          <a:noFill/>
        </p:spPr>
        <p:txBody>
          <a:bodyPr wrap="square" rtlCol="0" anchor="t">
            <a:noAutofit/>
          </a:bodyPr>
          <a:lstStyle/>
          <a:p>
            <a:pPr algn="l"/>
            <a:r>
              <a:rPr lang="es-PE" sz="2000" b="1" dirty="0">
                <a:solidFill>
                  <a:schemeClr val="bg1"/>
                </a:solidFill>
                <a:latin typeface="Calibri"/>
              </a:rPr>
              <a:t>VALENZUELA QUISPE, Alex David</a:t>
            </a:r>
          </a:p>
        </p:txBody>
      </p:sp>
      <p:sp>
        <p:nvSpPr>
          <p:cNvPr id="9" name="Ase"/>
          <p:cNvSpPr txBox="1"/>
          <p:nvPr/>
        </p:nvSpPr>
        <p:spPr>
          <a:xfrm>
            <a:off x="914400" y="6477000"/>
            <a:ext cx="11277600" cy="355600"/>
          </a:xfrm>
          <a:prstGeom prst="rect">
            <a:avLst/>
          </a:prstGeom>
          <a:noFill/>
        </p:spPr>
        <p:txBody>
          <a:bodyPr wrap="square" rtlCol="0" anchor="t">
            <a:noAutofit/>
          </a:bodyPr>
          <a:lstStyle/>
          <a:p>
            <a:pPr algn="l"/>
            <a:r>
              <a:rPr lang="es-PE" sz="1200" spc="200" dirty="0">
                <a:solidFill>
                  <a:srgbClr val="FBFAF6"/>
                </a:solidFill>
                <a:latin typeface="Consolas"/>
              </a:rPr>
              <a:t>Docente orientador: Mg. Rojas Salinas, Patricia  ·  Egresado 2024  ·  Lima – Perú 2026</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chemeClr val="bg1"/>
                </a:solidFill>
                <a:latin typeface="Consolas"/>
              </a:rPr>
              <a:t>IDC</a:t>
            </a:r>
          </a:p>
        </p:txBody>
      </p:sp>
      <p:pic>
        <p:nvPicPr>
          <p:cNvPr id="11" name="Imagen 10">
            <a:extLst>
              <a:ext uri="{FF2B5EF4-FFF2-40B4-BE49-F238E27FC236}">
                <a16:creationId xmlns:a16="http://schemas.microsoft.com/office/drawing/2014/main" id="{C2948F3D-2A92-8D4F-DE0D-109098E9DA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9948" y="172587"/>
            <a:ext cx="3094504" cy="11635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7474"/>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02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9C9D"/>
                </a:solidFill>
                <a:latin typeface="Calibri"/>
              </a:rPr>
              <a:t>Índice de la sustentación</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Introducción y contexto (3)</a:t>
            </a:r>
          </a:p>
          <a:p>
            <a:pPr algn="l"/>
            <a:r>
              <a:rPr lang="es-PE" sz="1500" dirty="0">
                <a:solidFill>
                  <a:srgbClr val="333333"/>
                </a:solidFill>
                <a:latin typeface="Calibri"/>
              </a:rPr>
              <a:t>•  Aspectos teóricos: objetivos y fundamentación (4–5)</a:t>
            </a:r>
          </a:p>
          <a:p>
            <a:pPr algn="l"/>
            <a:r>
              <a:rPr lang="es-PE" sz="1500" dirty="0">
                <a:solidFill>
                  <a:srgbClr val="333333"/>
                </a:solidFill>
                <a:latin typeface="Calibri"/>
              </a:rPr>
              <a:t>•  Ficha descriptiva del proyecto (6–7)</a:t>
            </a:r>
          </a:p>
          <a:p>
            <a:pPr algn="l"/>
            <a:r>
              <a:rPr lang="es-PE" sz="1500" dirty="0">
                <a:solidFill>
                  <a:srgbClr val="333333"/>
                </a:solidFill>
                <a:latin typeface="Calibri"/>
              </a:rPr>
              <a:t>•  Desarrollo del proyecto: proceso de diseño en 9 etapas (8–10)</a:t>
            </a:r>
          </a:p>
          <a:p>
            <a:pPr algn="l"/>
            <a:r>
              <a:rPr lang="es-PE" sz="1500" dirty="0">
                <a:solidFill>
                  <a:srgbClr val="333333"/>
                </a:solidFill>
                <a:latin typeface="Calibri"/>
              </a:rPr>
              <a:t>•  Producto final (11)</a:t>
            </a:r>
          </a:p>
          <a:p>
            <a:pPr algn="l"/>
            <a:r>
              <a:rPr lang="es-PE" sz="1500" dirty="0">
                <a:solidFill>
                  <a:srgbClr val="333333"/>
                </a:solidFill>
                <a:latin typeface="Calibri"/>
              </a:rPr>
              <a:t>•  Presupuesto y documentación (12)</a:t>
            </a:r>
          </a:p>
          <a:p>
            <a:pPr algn="l"/>
            <a:r>
              <a:rPr lang="es-PE" sz="1500" dirty="0">
                <a:solidFill>
                  <a:srgbClr val="333333"/>
                </a:solidFill>
                <a:latin typeface="Calibri"/>
              </a:rPr>
              <a:t>•  Evaluación y hallazgos (13)</a:t>
            </a:r>
          </a:p>
          <a:p>
            <a:pPr algn="l"/>
            <a:r>
              <a:rPr lang="es-PE" sz="1500" dirty="0">
                <a:solidFill>
                  <a:srgbClr val="333333"/>
                </a:solidFill>
                <a:latin typeface="Calibri"/>
              </a:rPr>
              <a:t>•  Conclusiones y recomendaciones (14)</a:t>
            </a:r>
          </a:p>
          <a:p>
            <a:pPr algn="l"/>
            <a:r>
              <a:rPr lang="es-PE" sz="1500" dirty="0">
                <a:solidFill>
                  <a:srgbClr val="333333"/>
                </a:solidFill>
                <a:latin typeface="Calibri"/>
              </a:rPr>
              <a:t>•  Cierre y agradecimientos (15)</a:t>
            </a:r>
          </a:p>
          <a:p>
            <a:pPr algn="l"/>
            <a:r>
              <a:rPr lang="es-PE" sz="1500" dirty="0">
                <a:solidFill>
                  <a:srgbClr val="333333"/>
                </a:solidFill>
                <a:latin typeface="Calibri"/>
              </a:rPr>
              <a:t>•  Demostración práctica del proyecto u obra (40 min)</a:t>
            </a:r>
          </a:p>
          <a:p>
            <a:pPr algn="l"/>
            <a:r>
              <a:rPr lang="es-PE" sz="1500" dirty="0">
                <a:solidFill>
                  <a:srgbClr val="333333"/>
                </a:solidFill>
                <a:latin typeface="Calibri"/>
              </a:rPr>
              <a:t>•  Ronda de preguntas del Jurado Calificador (15 min)</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001A055D-AB2C-2027-0157-1E8C5766F53D}"/>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2C17ABB4-09EB-5985-875C-536857953A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7474"/>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03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9C9D"/>
                </a:solidFill>
                <a:latin typeface="Calibri"/>
              </a:rPr>
              <a:t>Introducción y contexto</a:t>
            </a:r>
          </a:p>
        </p:txBody>
      </p:sp>
      <p:sp>
        <p:nvSpPr>
          <p:cNvPr id="20" name="Body"/>
          <p:cNvSpPr txBox="1"/>
          <p:nvPr/>
        </p:nvSpPr>
        <p:spPr>
          <a:xfrm>
            <a:off x="457200" y="1828800"/>
            <a:ext cx="11277600" cy="4267200"/>
          </a:xfrm>
          <a:prstGeom prst="rect">
            <a:avLst/>
          </a:prstGeom>
          <a:noFill/>
        </p:spPr>
        <p:txBody>
          <a:bodyPr wrap="square" rtlCol="0" anchor="t">
            <a:noAutofit/>
          </a:bodyPr>
          <a:lstStyle/>
          <a:p>
            <a:pPr algn="l"/>
            <a:r>
              <a:rPr lang="es-PE" sz="1600" dirty="0">
                <a:solidFill>
                  <a:srgbClr val="333333"/>
                </a:solidFill>
                <a:latin typeface="Calibri"/>
              </a:rPr>
              <a:t>Como egresado del Programa de Estudios de Diseño de Interiores del Instituto de Educación Superior Público «Diseño y Comunicación» (IDC), presento el portafolio académico del Examen de Suficiencia Profesional, que documenta el diseño interior y equipamiento de una cafetería de especialidad de 85 m² en el distrito de Barranco, Lima. El proyecto se ejecutó entre marzo y julio de 2025 para Raíz Café S.A.C., en el marco de mi trabajo como diseñador en un estudio de interiorismo comercial. El proyecto pertenece al segmento comercial de alimentos y bebidas, en el que el diseño interior interviene en la distribución de la barra de atención, la capacidad del salón, las condiciones de seguridad exigidas para la…</a:t>
            </a:r>
          </a:p>
          <a:p>
            <a:pPr algn="l"/>
            <a:endParaRPr lang="es-PE" sz="1600" dirty="0">
              <a:solidFill>
                <a:srgbClr val="333333"/>
              </a:solidFill>
              <a:latin typeface="Calibri"/>
            </a:endParaRPr>
          </a:p>
          <a:p>
            <a:pPr algn="l"/>
            <a:r>
              <a:rPr lang="es-PE" sz="1600" dirty="0">
                <a:solidFill>
                  <a:srgbClr val="333333"/>
                </a:solidFill>
                <a:latin typeface="Calibri"/>
              </a:rPr>
              <a:t>Evaluación: Examen teórico 30 % + Sustentación práctica o demostrativa 70 %</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1CD8EB88-4421-0E10-9711-FF3466D4E0A1}"/>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711A9BB8-2260-1689-D50B-7E64FFFF117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4F8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04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4F80"/>
                </a:solidFill>
                <a:latin typeface="Calibri"/>
              </a:rPr>
              <a:t>Aspectos teóricos — Objetivos del ESP</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Objetivo general: Demostrar el dominio teórico-práctico de las competencias profesionales del Diseño de Interiores mediante la exposición y sustentación del proyecto integral de diseño interior y equipamiento de una cafetería de especialidad de 85 m², desarrollado para Raíz Café S.A.C. en Barranco, Lima, en el marco…</a:t>
            </a:r>
          </a:p>
          <a:p>
            <a:pPr algn="l"/>
            <a:r>
              <a:rPr lang="es-PE" sz="1500" dirty="0">
                <a:solidFill>
                  <a:srgbClr val="333333"/>
                </a:solidFill>
                <a:latin typeface="Calibri"/>
              </a:rPr>
              <a:t>•  OE1: Fundamentar teóricamente el proyecto mediante bases teóricas, antecedentes y marco conceptual actualizados.</a:t>
            </a:r>
          </a:p>
          <a:p>
            <a:pPr algn="l"/>
            <a:r>
              <a:rPr lang="es-PE" sz="1500" dirty="0">
                <a:solidFill>
                  <a:srgbClr val="333333"/>
                </a:solidFill>
                <a:latin typeface="Calibri"/>
              </a:rPr>
              <a:t>•  OE2: Describir el proceso de diseño y equipamiento del local, desde la atención al cliente hasta la entrega de la obra concluida.</a:t>
            </a:r>
          </a:p>
          <a:p>
            <a:pPr algn="l"/>
            <a:r>
              <a:rPr lang="es-PE" sz="1500" dirty="0">
                <a:solidFill>
                  <a:srgbClr val="333333"/>
                </a:solidFill>
                <a:latin typeface="Calibri"/>
              </a:rPr>
              <a:t>•  OE3: Demostrar prácticamente la propuesta de diseño mediante planos 2D y 3D y una maqueta a escala 1:25 de la barra de atención.  ·  OE4: Evaluar críticamente los resultados del proyecto y proponer mejoras basadas en evidencia.</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D35B63D0-8F2C-E19E-41F7-98B5258DC81D}"/>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C9292804-A3AD-6879-E48E-7E2735F8379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pic>
        <p:nvPicPr>
          <p:cNvPr id="4" name="Gráfico 3">
            <a:extLst>
              <a:ext uri="{FF2B5EF4-FFF2-40B4-BE49-F238E27FC236}">
                <a16:creationId xmlns:a16="http://schemas.microsoft.com/office/drawing/2014/main" id="{F780A87B-E89D-0FE5-7C36-673EF3C4CD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
        <p:nvSpPr>
          <p:cNvPr id="10" name="Bar"/>
          <p:cNvSpPr/>
          <p:nvPr/>
        </p:nvSpPr>
        <p:spPr>
          <a:xfrm>
            <a:off x="0" y="0"/>
            <a:ext cx="12192000" cy="152400"/>
          </a:xfrm>
          <a:prstGeom prst="rect">
            <a:avLst/>
          </a:prstGeom>
          <a:solidFill>
            <a:srgbClr val="007474"/>
          </a:solidFill>
          <a:ln>
            <a:noFill/>
          </a:ln>
        </p:spPr>
        <p:txBody>
          <a:bodyPr/>
          <a:lstStyle/>
          <a:p>
            <a:endParaRPr lang="es-PE">
              <a:solidFill>
                <a:srgbClr val="009C9D"/>
              </a:solidFill>
            </a:endParaRPr>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05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9C9D"/>
                </a:solidFill>
                <a:latin typeface="Calibri"/>
              </a:rPr>
              <a:t>Aspectos teóricos — Fundamentación</a:t>
            </a:r>
          </a:p>
        </p:txBody>
      </p:sp>
      <p:sp>
        <p:nvSpPr>
          <p:cNvPr id="20" name="Body"/>
          <p:cNvSpPr txBox="1"/>
          <p:nvPr/>
        </p:nvSpPr>
        <p:spPr>
          <a:xfrm>
            <a:off x="457200" y="1828800"/>
            <a:ext cx="11277600" cy="4267200"/>
          </a:xfrm>
          <a:prstGeom prst="rect">
            <a:avLst/>
          </a:prstGeom>
          <a:noFill/>
        </p:spPr>
        <p:txBody>
          <a:bodyPr wrap="square" rtlCol="0" anchor="t">
            <a:noAutofit/>
          </a:bodyPr>
          <a:lstStyle/>
          <a:p>
            <a:pPr algn="l"/>
            <a:r>
              <a:rPr lang="es-PE" sz="1600" dirty="0">
                <a:solidFill>
                  <a:srgbClr val="333333"/>
                </a:solidFill>
                <a:latin typeface="Calibri"/>
              </a:rPr>
              <a:t>El portafolio se fundamenta en la sistematización de experiencias, modalidad de investigación cualitativa que interpreta críticamente una práctica a partir de su reconstrucción ordenada, con el fin de producir aprendizajes que la trasciendan (Jara, 2018). Las decisiones de diseño se reconstruyen con la secuencia del método científico adaptado al diseño de espacios: observación, planteamiento del problema, supuestos de diseño, prototipado, análisis de resultados y conclusiones (Hernández-Sampieri y Mendoza, 2018). En el proyecto, el supuesto de diseño fue que una barra frontal con zona de espera reduciría los cruces de circulación entre clientes y personal. Para valorar los aportes del proyecto se emplean los criterios del Manual de Oslo, que distingue innovaciones de producto y de proceso (OCDE y Eurostat, 2018); en este caso, la estandarización de un despiece de mobiliario para…</a:t>
            </a:r>
          </a:p>
        </p:txBody>
      </p:sp>
      <p:sp>
        <p:nvSpPr>
          <p:cNvPr id="99" name="Pie"/>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7C3AED"/>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06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7C3AED"/>
                </a:solidFill>
                <a:latin typeface="Calibri"/>
              </a:rPr>
              <a:t>Ficha descriptiva — Datos generales</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a:solidFill>
                  <a:srgbClr val="333333"/>
                </a:solidFill>
                <a:latin typeface="Calibri"/>
              </a:rPr>
              <a:t>•  Proyecto: Café Raíz — cafetería de especialidad · Comercial</a:t>
            </a:r>
          </a:p>
          <a:p>
            <a:pPr algn="l"/>
            <a:r>
              <a:rPr lang="es-PE" sz="1500">
                <a:solidFill>
                  <a:srgbClr val="333333"/>
                </a:solidFill>
                <a:latin typeface="Calibri"/>
              </a:rPr>
              <a:t>•  Razón social: Raíz Café S.A.C. · Diseño integral</a:t>
            </a:r>
          </a:p>
          <a:p>
            <a:pPr algn="l"/>
            <a:r>
              <a:rPr lang="es-PE" sz="1500">
                <a:solidFill>
                  <a:srgbClr val="333333"/>
                </a:solidFill>
                <a:latin typeface="Calibri"/>
              </a:rPr>
              <a:t>•  Tema de inspiración: Andenes andinos: terrazas de cultivo y muros de tierra</a:t>
            </a:r>
          </a:p>
          <a:p>
            <a:pPr algn="l"/>
            <a:r>
              <a:rPr lang="es-PE" sz="1500">
                <a:solidFill>
                  <a:srgbClr val="333333"/>
                </a:solidFill>
                <a:latin typeface="Calibri"/>
              </a:rPr>
              <a:t>•  Área: 85 m² · Aforo: 32 comensales y 4 trabajadores</a:t>
            </a:r>
          </a:p>
          <a:p>
            <a:pPr algn="l"/>
            <a:r>
              <a:rPr lang="es-PE" sz="1500">
                <a:solidFill>
                  <a:srgbClr val="333333"/>
                </a:solidFill>
                <a:latin typeface="Calibri"/>
              </a:rPr>
              <a:t>•  Ubicación: Barranco, Lima (dirección referencial)</a:t>
            </a:r>
          </a:p>
          <a:p>
            <a:pPr algn="l"/>
            <a:r>
              <a:rPr lang="es-PE" sz="1500">
                <a:solidFill>
                  <a:srgbClr val="333333"/>
                </a:solidFill>
                <a:latin typeface="Calibri"/>
              </a:rPr>
              <a:t>•  Propietario: Gutiérrez Ramos, Lucía (gerente general) · Diseñador(a): VALENZUELA QUISPE, Alex David</a:t>
            </a:r>
          </a:p>
          <a:p>
            <a:pPr algn="l"/>
            <a:r>
              <a:rPr lang="es-PE" sz="1500">
                <a:solidFill>
                  <a:srgbClr val="333333"/>
                </a:solidFill>
                <a:latin typeface="Calibri"/>
              </a:rPr>
              <a:t>•  Objetivos del proyecto: Intervenir 85 m²; ejecutar el proyecto con un presupuesto de S/ 112,996.80 incluido IGV; entregar en 14 semanas (4 de diseño y 10 de obra); obtener una calificación…</a:t>
            </a:r>
            <a:endParaRPr lang="es-PE" sz="1500" dirty="0">
              <a:solidFill>
                <a:srgbClr val="333333"/>
              </a:solidFill>
              <a:latin typeface="Calibri"/>
            </a:endParaRP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07A50EF6-C6EB-BC7C-F98A-B17712301EEB}"/>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E0FBBA23-CD41-27AC-95B0-A2491B94E6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4F8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07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4F80"/>
                </a:solidFill>
                <a:latin typeface="Calibri"/>
              </a:rPr>
              <a:t>Ficha descriptiva — Necesidades, estilo y materiales</a:t>
            </a:r>
          </a:p>
        </p:txBody>
      </p:sp>
      <p:sp>
        <p:nvSpPr>
          <p:cNvPr id="20" name="List"/>
          <p:cNvSpPr txBox="1"/>
          <p:nvPr/>
        </p:nvSpPr>
        <p:spPr>
          <a:xfrm>
            <a:off x="457200" y="1828800"/>
            <a:ext cx="11277600" cy="3433584"/>
          </a:xfrm>
          <a:prstGeom prst="rect">
            <a:avLst/>
          </a:prstGeom>
          <a:noFill/>
        </p:spPr>
        <p:txBody>
          <a:bodyPr wrap="square" rtlCol="0" anchor="t">
            <a:noAutofit/>
          </a:bodyPr>
          <a:lstStyle/>
          <a:p>
            <a:pPr algn="l"/>
            <a:r>
              <a:rPr lang="es-PE" sz="1500" dirty="0">
                <a:solidFill>
                  <a:srgbClr val="333333"/>
                </a:solidFill>
                <a:latin typeface="Calibri"/>
              </a:rPr>
              <a:t>•  Usuario: Clientes de 20 a 45 años, residentes y trabajadores del distrito; permanencia promedio de 45 minutos. Requieren mesas para trabajo con tomacorrientes, una barra de…</a:t>
            </a:r>
          </a:p>
          <a:p>
            <a:pPr algn="l"/>
            <a:r>
              <a:rPr lang="es-PE" sz="1500" dirty="0">
                <a:solidFill>
                  <a:srgbClr val="333333"/>
                </a:solidFill>
                <a:latin typeface="Calibri"/>
              </a:rPr>
              <a:t>•  Propietario: Aforo de 32 comensales, imagen asociada al café peruano de origen, presupuesto máximo de S/ 115,000 incluido IGV y apertura en 14 semanas, con certificado de inspección…</a:t>
            </a:r>
          </a:p>
          <a:p>
            <a:pPr algn="l"/>
            <a:r>
              <a:rPr lang="es-PE" sz="1500" dirty="0">
                <a:solidFill>
                  <a:srgbClr val="333333"/>
                </a:solidFill>
                <a:latin typeface="Calibri"/>
              </a:rPr>
              <a:t>•  Estilo o tendencia: Macro-tendencia: sostenibilidad y uso de materiales locales. Micro-tendencias: tonos tierra, superficies texturadas de acabado mate, madera aparente y mobiliario de…</a:t>
            </a:r>
          </a:p>
          <a:p>
            <a:pPr algn="l"/>
            <a:r>
              <a:rPr lang="es-PE" sz="1500" dirty="0">
                <a:solidFill>
                  <a:srgbClr val="333333"/>
                </a:solidFill>
                <a:latin typeface="Calibri"/>
              </a:rPr>
              <a:t>•  Color y materiales: Barra — piso: porcelanato 60 × 60 cm color arcilla (proveedor local); frente: listones de tornillo con barniz al agua; muro posterior: microcemento terracota. Salón —…</a:t>
            </a:r>
          </a:p>
          <a:p>
            <a:pPr algn="l"/>
            <a:r>
              <a:rPr lang="es-PE" sz="1500" dirty="0">
                <a:solidFill>
                  <a:srgbClr val="333333"/>
                </a:solidFill>
                <a:latin typeface="Calibri"/>
              </a:rPr>
              <a:t>•  Iluminación: General: downlights LED 3000 K (aprox. 300 lux en salón). Barra: perfiles lineales LED 4000 K (aprox. 500 lux en superficie de trabajo). Acento: colgantes 2700 K sobre…</a:t>
            </a:r>
          </a:p>
          <a:p>
            <a:pPr algn="l"/>
            <a:r>
              <a:rPr lang="es-PE" sz="1500" dirty="0">
                <a:solidFill>
                  <a:srgbClr val="333333"/>
                </a:solidFill>
                <a:latin typeface="Calibri"/>
              </a:rPr>
              <a:t>•  Mobiliario: Salón: 8 mesas de 60 × 60 cm con tablero de tornillo y base metálica; 24 sillas de madera. Banca corrida de 4.20 m tapizada en tela de alto tránsito. Barra: 6 bancos…</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2C4832FF-0A02-BA6B-9230-5BEA22E104E5}"/>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5BE6C079-D50E-7088-8A76-772297A9BD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4F8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08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4F80"/>
                </a:solidFill>
                <a:latin typeface="Calibri"/>
              </a:rPr>
              <a:t>Desarrollo del proyecto — Etapas 1 a 3</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1.ª etapa — Atención al cliente y recepción de necesidades: Reunión con la gerente general el 3 de marzo de 2025; se registró el programa de necesidades y el presupuesto referencial (anexo 1).</a:t>
            </a:r>
          </a:p>
          <a:p>
            <a:pPr algn="l"/>
            <a:r>
              <a:rPr lang="es-PE" sz="1500" dirty="0">
                <a:solidFill>
                  <a:srgbClr val="333333"/>
                </a:solidFill>
                <a:latin typeface="Calibri"/>
              </a:rPr>
              <a:t>•  2.ª etapa — Remedición del local, toma de apuntes y fotografías: Remedición del local, registro de 64 fotografías y verificación de instalaciones eléctricas y sanitarias existentes.</a:t>
            </a:r>
          </a:p>
          <a:p>
            <a:pPr algn="l"/>
            <a:r>
              <a:rPr lang="es-PE" sz="1500" dirty="0">
                <a:solidFill>
                  <a:srgbClr val="333333"/>
                </a:solidFill>
                <a:latin typeface="Calibri"/>
              </a:rPr>
              <a:t>•  3.ª etapa — Elaboración de anteproyecto en planos o propuesta preliminar: Dos alternativas de distribución con moodboard y vistas 3D preliminares; se eligió la alternativa con barra frontal.</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46ADC5F8-EE60-6E2C-3FEC-D493ABDC00B9}"/>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C7502790-158C-0B04-7ED1-6D4FA64D0F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4F8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09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4F80"/>
                </a:solidFill>
                <a:latin typeface="Calibri"/>
              </a:rPr>
              <a:t>Desarrollo del proyecto — Etapas 4 a 6</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4.ª etapa — Elaboración del proyecto en planos o propuesta final: Juego de 12 láminas: distribución, decorativo, iluminación, detalles de barra y banca, y 6 renders finales.</a:t>
            </a:r>
          </a:p>
          <a:p>
            <a:pPr algn="l"/>
            <a:r>
              <a:rPr lang="es-PE" sz="1500" dirty="0">
                <a:solidFill>
                  <a:srgbClr val="333333"/>
                </a:solidFill>
                <a:latin typeface="Calibri"/>
              </a:rPr>
              <a:t>•  5.ª etapa — Elaboración de presupuesto o cotización del proyecto: Metrados, tres cotizaciones por partida principal y presupuesto final de S/ 112,996.80 incluido IGV.</a:t>
            </a:r>
          </a:p>
          <a:p>
            <a:pPr algn="l"/>
            <a:r>
              <a:rPr lang="es-PE" sz="1500" dirty="0">
                <a:solidFill>
                  <a:srgbClr val="333333"/>
                </a:solidFill>
                <a:latin typeface="Calibri"/>
              </a:rPr>
              <a:t>•  6.ª etapa — Validación o aprobación del proyecto por el cliente y responsable del proyecto (firma del contrato): Presentación al cliente, dos ajustes de acabados y firma del contrato el 3 de abril de 2025.</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C1E75117-3580-8E81-B542-8051A293BD1B}"/>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3495042A-20B8-0E0D-8970-51AF0D2C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F3A10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10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F3A100"/>
                </a:solidFill>
                <a:latin typeface="Calibri"/>
              </a:rPr>
              <a:t>Desarrollo del proyecto — Etapas 7 a 9</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7.ª etapa — Ejecución de la obra según proyecto aprobado: Desmontaje, renovación eléctrica, drywall, acabados de piso y muro, fabricación e instalación de mobiliario.</a:t>
            </a:r>
          </a:p>
          <a:p>
            <a:pPr algn="l"/>
            <a:r>
              <a:rPr lang="es-PE" sz="1500" dirty="0">
                <a:solidFill>
                  <a:srgbClr val="333333"/>
                </a:solidFill>
                <a:latin typeface="Calibri"/>
              </a:rPr>
              <a:t>•  8.ª etapa — Supervisión y control de la obra según cronograma: 10 informes semanales de avance con registro fotográfico y control de calidad de pisos, drywall e instalaciones.</a:t>
            </a:r>
          </a:p>
          <a:p>
            <a:pPr algn="l"/>
            <a:r>
              <a:rPr lang="es-PE" sz="1500" dirty="0">
                <a:solidFill>
                  <a:srgbClr val="333333"/>
                </a:solidFill>
                <a:latin typeface="Calibri"/>
              </a:rPr>
              <a:t>•  9.ª etapa — Entrega de la obra concluida al cliente: Recorrido final, levantamiento de 6 observaciones y firma del acta de conformidad el 18 de julio de 2025.</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2745BBFF-C3A6-E6FD-7E76-64B9551103F4}"/>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971AF38D-0674-B398-FF77-D9413F7592E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7474"/>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11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9C9D"/>
                </a:solidFill>
                <a:latin typeface="Calibri"/>
              </a:rPr>
              <a:t>Producto final</a:t>
            </a:r>
          </a:p>
        </p:txBody>
      </p:sp>
      <p:sp>
        <p:nvSpPr>
          <p:cNvPr id="20" name="Body"/>
          <p:cNvSpPr txBox="1"/>
          <p:nvPr/>
        </p:nvSpPr>
        <p:spPr>
          <a:xfrm>
            <a:off x="457200" y="1828800"/>
            <a:ext cx="11277600" cy="4267200"/>
          </a:xfrm>
          <a:prstGeom prst="rect">
            <a:avLst/>
          </a:prstGeom>
          <a:noFill/>
        </p:spPr>
        <p:txBody>
          <a:bodyPr wrap="square" rtlCol="0" anchor="t">
            <a:noAutofit/>
          </a:bodyPr>
          <a:lstStyle/>
          <a:p>
            <a:pPr algn="l"/>
            <a:r>
              <a:rPr lang="es-PE" sz="1600" dirty="0">
                <a:solidFill>
                  <a:srgbClr val="333333"/>
                </a:solidFill>
                <a:latin typeface="Calibri"/>
              </a:rPr>
              <a:t>6 renders fotorrealistas (fachada, barra, salón, banca, servicio higiénico y vista nocturna) y un recorrido virtual de 90 segundos; registro fotográfico final de 40 imágenes.  —  Tecnología: AutoCAD para planos 2D; SketchUp y Enscape para modelado y renders; Excel para metrados y presupuesto; cortadora láser para las piezas de la maqueta.</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E9CCC119-83B8-57FA-F25A-59043AE95DB7}"/>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D6348B95-14BD-1057-8679-26D2CE3666F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F3A100"/>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12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F3A100"/>
                </a:solidFill>
                <a:latin typeface="Calibri"/>
              </a:rPr>
              <a:t>Presupuesto y documentación</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dirty="0">
                <a:solidFill>
                  <a:srgbClr val="333333"/>
                </a:solidFill>
                <a:latin typeface="Calibri"/>
              </a:rPr>
              <a:t>•  Presupuesto: 7 partidas (Materiales, Mano de obra, Herramientas y equipos, Gastos generales, Imprevistos, IGV) · Total general S/ 112,996.80</a:t>
            </a:r>
          </a:p>
          <a:p>
            <a:pPr algn="l"/>
            <a:r>
              <a:rPr lang="es-PE" sz="1500" dirty="0">
                <a:solidFill>
                  <a:srgbClr val="333333"/>
                </a:solidFill>
                <a:latin typeface="Calibri"/>
              </a:rPr>
              <a:t>•  Contrato de obra: Contrato de obra suscrito el 3 de abril de 2025 entre Raíz Café S.A.C. y el estudio responsable, por S/ 112,996.80 incluido IGV, con plazo de 10 semanas de obra y tres pagos (40 %, 40 % y 20 %). Ver anexo 1.</a:t>
            </a:r>
          </a:p>
          <a:p>
            <a:pPr algn="l"/>
            <a:r>
              <a:rPr lang="es-PE" sz="1500" dirty="0">
                <a:solidFill>
                  <a:srgbClr val="333333"/>
                </a:solidFill>
                <a:latin typeface="Calibri"/>
              </a:rPr>
              <a:t>•  Supervisión y acta de conformidad: 10 informes semanales de avance con registro fotográfico, cronograma de Gantt y 4 protocolos de control de calidad (pisos, drywall, instalaciones eléctricas y mobiliario). · Acta firmada por la gerente general el 18 de julio de 2025, tras el levantamiento de…</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2" name="Pie">
            <a:extLst>
              <a:ext uri="{FF2B5EF4-FFF2-40B4-BE49-F238E27FC236}">
                <a16:creationId xmlns:a16="http://schemas.microsoft.com/office/drawing/2014/main" id="{1124EAA5-4C48-54A1-81FD-95543EF2D5C8}"/>
              </a:ext>
            </a:extLst>
          </p:cNvPr>
          <p:cNvSpPr txBox="1"/>
          <p:nvPr/>
        </p:nvSpPr>
        <p:spPr>
          <a:xfrm>
            <a:off x="914400" y="6400800"/>
            <a:ext cx="8915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4" name="Gráfico 3">
            <a:extLst>
              <a:ext uri="{FF2B5EF4-FFF2-40B4-BE49-F238E27FC236}">
                <a16:creationId xmlns:a16="http://schemas.microsoft.com/office/drawing/2014/main" id="{EE8E244E-6A05-61DE-EA71-C474DCA801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007474"/>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13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009C9D"/>
                </a:solidFill>
                <a:latin typeface="Calibri"/>
              </a:rPr>
              <a:t>Evaluación y hallazgos</a:t>
            </a:r>
          </a:p>
        </p:txBody>
      </p:sp>
      <p:sp>
        <p:nvSpPr>
          <p:cNvPr id="20" name="Body"/>
          <p:cNvSpPr txBox="1"/>
          <p:nvPr/>
        </p:nvSpPr>
        <p:spPr>
          <a:xfrm>
            <a:off x="457200" y="1828800"/>
            <a:ext cx="11277600" cy="4267200"/>
          </a:xfrm>
          <a:prstGeom prst="rect">
            <a:avLst/>
          </a:prstGeom>
          <a:noFill/>
        </p:spPr>
        <p:txBody>
          <a:bodyPr wrap="square" rtlCol="0" anchor="t">
            <a:noAutofit/>
          </a:bodyPr>
          <a:lstStyle/>
          <a:p>
            <a:pPr algn="l"/>
            <a:r>
              <a:rPr lang="es-PE" sz="1600" dirty="0">
                <a:solidFill>
                  <a:srgbClr val="333333"/>
                </a:solidFill>
                <a:latin typeface="Calibri"/>
              </a:rPr>
              <a:t>El proyecto se ejecutó con S/ 111,480.00 (98.7 % del presupuesto aprobado). La obra duró 11 semanas frente a 10 programadas, por la entrega tardía de la máquina de espresso. La gerente general calificó el proyecto con 4.5/5 en la encuesta de satisfacción y se levantaron 6 observaciones menores antes del acta de conformidad.</a:t>
            </a:r>
          </a:p>
          <a:p>
            <a:pPr algn="l"/>
            <a:endParaRPr lang="es-PE" sz="1600" dirty="0">
              <a:solidFill>
                <a:srgbClr val="333333"/>
              </a:solidFill>
              <a:latin typeface="Calibri"/>
            </a:endParaRPr>
          </a:p>
          <a:p>
            <a:pPr algn="l"/>
            <a:r>
              <a:rPr lang="es-PE" sz="1600" dirty="0">
                <a:solidFill>
                  <a:srgbClr val="333333"/>
                </a:solidFill>
                <a:latin typeface="Calibri"/>
              </a:rPr>
              <a:t>Demostración práctica: Demostrar la competencia de especificación técnica y armado de mobiliario mediante el montaje de una maqueta a escala 1:25 de la barra de atención.</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9A0BAF2E-300D-E6AF-7B2D-954C5DE6DF60}"/>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66863791-A63B-BE01-14DF-53FE949330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0" name="Bar"/>
          <p:cNvSpPr/>
          <p:nvPr/>
        </p:nvSpPr>
        <p:spPr>
          <a:xfrm>
            <a:off x="0" y="0"/>
            <a:ext cx="12192000" cy="152400"/>
          </a:xfrm>
          <a:prstGeom prst="rect">
            <a:avLst/>
          </a:prstGeom>
          <a:solidFill>
            <a:srgbClr val="7C3AED"/>
          </a:solidFill>
          <a:ln>
            <a:noFill/>
          </a:ln>
        </p:spPr>
        <p:txBody>
          <a:bodyPr/>
          <a:lstStyle/>
          <a:p>
            <a:endParaRPr lang="es-PE"/>
          </a:p>
        </p:txBody>
      </p:sp>
      <p:sp>
        <p:nvSpPr>
          <p:cNvPr id="11" name="Num"/>
          <p:cNvSpPr txBox="1"/>
          <p:nvPr/>
        </p:nvSpPr>
        <p:spPr>
          <a:xfrm>
            <a:off x="457200" y="228600"/>
            <a:ext cx="1500000" cy="355600"/>
          </a:xfrm>
          <a:prstGeom prst="rect">
            <a:avLst/>
          </a:prstGeom>
          <a:noFill/>
        </p:spPr>
        <p:txBody>
          <a:bodyPr wrap="square" rtlCol="0" anchor="t">
            <a:noAutofit/>
          </a:bodyPr>
          <a:lstStyle/>
          <a:p>
            <a:pPr algn="l"/>
            <a:r>
              <a:rPr lang="es-PE" sz="1100" b="1" spc="200" dirty="0">
                <a:solidFill>
                  <a:srgbClr val="7C3AED"/>
                </a:solidFill>
                <a:latin typeface="Consolas"/>
              </a:rPr>
              <a:t>14 / 15</a:t>
            </a:r>
          </a:p>
        </p:txBody>
      </p:sp>
      <p:sp>
        <p:nvSpPr>
          <p:cNvPr id="12" name="Tit"/>
          <p:cNvSpPr txBox="1"/>
          <p:nvPr/>
        </p:nvSpPr>
        <p:spPr>
          <a:xfrm>
            <a:off x="457200" y="609600"/>
            <a:ext cx="11277600" cy="990600"/>
          </a:xfrm>
          <a:prstGeom prst="rect">
            <a:avLst/>
          </a:prstGeom>
          <a:noFill/>
        </p:spPr>
        <p:txBody>
          <a:bodyPr wrap="square" rtlCol="0" anchor="t">
            <a:noAutofit/>
          </a:bodyPr>
          <a:lstStyle/>
          <a:p>
            <a:pPr algn="l"/>
            <a:r>
              <a:rPr lang="es-PE" sz="3600" b="1" spc="-30" dirty="0">
                <a:solidFill>
                  <a:srgbClr val="7C3AED"/>
                </a:solidFill>
                <a:latin typeface="Calibri"/>
              </a:rPr>
              <a:t>Conclusiones y recomendaciones</a:t>
            </a:r>
          </a:p>
        </p:txBody>
      </p:sp>
      <p:sp>
        <p:nvSpPr>
          <p:cNvPr id="20" name="List"/>
          <p:cNvSpPr txBox="1"/>
          <p:nvPr/>
        </p:nvSpPr>
        <p:spPr>
          <a:xfrm>
            <a:off x="457200" y="1828800"/>
            <a:ext cx="11277600" cy="4267200"/>
          </a:xfrm>
          <a:prstGeom prst="rect">
            <a:avLst/>
          </a:prstGeom>
          <a:noFill/>
        </p:spPr>
        <p:txBody>
          <a:bodyPr wrap="square" rtlCol="0" anchor="t">
            <a:noAutofit/>
          </a:bodyPr>
          <a:lstStyle/>
          <a:p>
            <a:pPr algn="l"/>
            <a:r>
              <a:rPr lang="es-PE" sz="1500">
                <a:solidFill>
                  <a:srgbClr val="333333"/>
                </a:solidFill>
                <a:latin typeface="Calibri"/>
              </a:rPr>
              <a:t>•  1. El objetivo de fundamentar teóricamente el proyecto se logró mediante la articulación de la sistematización de experiencias y del método científico adaptado al diseño de espacios. Los…</a:t>
            </a:r>
          </a:p>
          <a:p>
            <a:pPr algn="l"/>
            <a:r>
              <a:rPr lang="es-PE" sz="1500">
                <a:solidFill>
                  <a:srgbClr val="333333"/>
                </a:solidFill>
                <a:latin typeface="Calibri"/>
              </a:rPr>
              <a:t>•  2. El objetivo de describir el proceso de diseño y equipamiento se logró mediante el registro de las nueve etapas, desde la atención al cliente hasta el acta de conformidad. Los resultados…</a:t>
            </a:r>
          </a:p>
          <a:p>
            <a:pPr algn="l"/>
            <a:r>
              <a:rPr lang="es-PE" sz="1500">
                <a:solidFill>
                  <a:srgbClr val="333333"/>
                </a:solidFill>
                <a:latin typeface="Calibri"/>
              </a:rPr>
              <a:t>•  3. El objetivo de demostrar la propuesta de diseño se logró mediante 12 láminas técnicas, 6 renders y una maqueta a escala 1:25 de la barra de atención. Los resultados evidencian coherencia…</a:t>
            </a:r>
          </a:p>
          <a:p>
            <a:pPr algn="l"/>
            <a:r>
              <a:rPr lang="es-PE" sz="1500">
                <a:solidFill>
                  <a:srgbClr val="333333"/>
                </a:solidFill>
                <a:latin typeface="Calibri"/>
              </a:rPr>
              <a:t>•  Sector: Se recomienda a las empresas del sector incorporar protocolos escritos de supervisión semanal en proyectos comerciales menores de 100 m².</a:t>
            </a:r>
          </a:p>
          <a:p>
            <a:pPr algn="l"/>
            <a:r>
              <a:rPr lang="es-PE" sz="1500">
                <a:solidFill>
                  <a:srgbClr val="333333"/>
                </a:solidFill>
                <a:latin typeface="Calibri"/>
              </a:rPr>
              <a:t>•  Empresa: Se sugiere a la empresa cotizar el equipamiento crítico con al menos dos proveedores y fijar fechas de entrega con penalidad en las órdenes…</a:t>
            </a:r>
          </a:p>
          <a:p>
            <a:pPr algn="l"/>
            <a:r>
              <a:rPr lang="es-PE" sz="1500">
                <a:solidFill>
                  <a:srgbClr val="333333"/>
                </a:solidFill>
                <a:latin typeface="Calibri"/>
              </a:rPr>
              <a:t>•  Profesionales: Se recomienda a los diseñadores de interiores realizar la remedición del local antes del anteproyecto y registrar las instalaciones…</a:t>
            </a:r>
          </a:p>
          <a:p>
            <a:pPr algn="l"/>
            <a:r>
              <a:rPr lang="es-PE" sz="1500">
                <a:solidFill>
                  <a:srgbClr val="333333"/>
                </a:solidFill>
                <a:latin typeface="Calibri"/>
              </a:rPr>
              <a:t>•  Academia: Se sugiere al IDC incluir ejercicios de metrados y presupuesto por partidas en el Módulo III, con precios unitarios del mercado local.</a:t>
            </a:r>
            <a:endParaRPr lang="es-PE" sz="1500" dirty="0">
              <a:solidFill>
                <a:srgbClr val="333333"/>
              </a:solidFill>
              <a:latin typeface="Calibri"/>
            </a:endParaRP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rgbClr val="7C3AED"/>
                </a:solidFill>
                <a:latin typeface="Consolas"/>
              </a:rPr>
              <a:t>IDC</a:t>
            </a:r>
          </a:p>
        </p:txBody>
      </p:sp>
      <p:sp>
        <p:nvSpPr>
          <p:cNvPr id="3" name="Pie">
            <a:extLst>
              <a:ext uri="{FF2B5EF4-FFF2-40B4-BE49-F238E27FC236}">
                <a16:creationId xmlns:a16="http://schemas.microsoft.com/office/drawing/2014/main" id="{07A50EF6-C6EB-BC7C-F98A-B17712301EEB}"/>
              </a:ext>
            </a:extLst>
          </p:cNvPr>
          <p:cNvSpPr txBox="1"/>
          <p:nvPr/>
        </p:nvSpPr>
        <p:spPr>
          <a:xfrm>
            <a:off x="914400" y="6400800"/>
            <a:ext cx="10820400" cy="355600"/>
          </a:xfrm>
          <a:prstGeom prst="rect">
            <a:avLst/>
          </a:prstGeom>
          <a:noFill/>
        </p:spPr>
        <p:txBody>
          <a:bodyPr wrap="square" rtlCol="0" anchor="t">
            <a:noAutofit/>
          </a:bodyPr>
          <a:lstStyle/>
          <a:p>
            <a:pPr algn="l"/>
            <a:r>
              <a:rPr lang="es-PE" sz="900" spc="120" dirty="0">
                <a:solidFill>
                  <a:srgbClr val="007474"/>
                </a:solidFill>
                <a:latin typeface="Consolas"/>
              </a:rPr>
              <a:t>VALENZUELA QUISPE  ·  ESP Diseño de Interiores IDC  ·  2026</a:t>
            </a:r>
          </a:p>
        </p:txBody>
      </p:sp>
      <p:pic>
        <p:nvPicPr>
          <p:cNvPr id="2" name="Gráfico 1">
            <a:extLst>
              <a:ext uri="{FF2B5EF4-FFF2-40B4-BE49-F238E27FC236}">
                <a16:creationId xmlns:a16="http://schemas.microsoft.com/office/drawing/2014/main" id="{E0FBBA23-CD41-27AC-95B0-A2491B94E6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9966" y="6321334"/>
            <a:ext cx="388850" cy="388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5307A"/>
        </a:solidFill>
        <a:effectLst/>
      </p:bgPr>
    </p:bg>
    <p:spTree>
      <p:nvGrpSpPr>
        <p:cNvPr id="1" name=""/>
        <p:cNvGrpSpPr/>
        <p:nvPr/>
      </p:nvGrpSpPr>
      <p:grpSpPr>
        <a:xfrm>
          <a:off x="0" y="0"/>
          <a:ext cx="0" cy="0"/>
          <a:chOff x="0" y="0"/>
          <a:chExt cx="0" cy="0"/>
        </a:xfrm>
      </p:grpSpPr>
      <p:sp>
        <p:nvSpPr>
          <p:cNvPr id="2" name="BG"/>
          <p:cNvSpPr/>
          <p:nvPr/>
        </p:nvSpPr>
        <p:spPr>
          <a:xfrm>
            <a:off x="0" y="0"/>
            <a:ext cx="12192000" cy="6858000"/>
          </a:xfrm>
          <a:prstGeom prst="rect">
            <a:avLst/>
          </a:prstGeom>
          <a:solidFill>
            <a:srgbClr val="009C9D"/>
          </a:solidFill>
          <a:ln>
            <a:noFill/>
          </a:ln>
        </p:spPr>
        <p:txBody>
          <a:bodyPr/>
          <a:lstStyle/>
          <a:p>
            <a:endParaRPr lang="es-PE"/>
          </a:p>
        </p:txBody>
      </p:sp>
      <p:sp>
        <p:nvSpPr>
          <p:cNvPr id="3" name="Tag"/>
          <p:cNvSpPr txBox="1"/>
          <p:nvPr/>
        </p:nvSpPr>
        <p:spPr>
          <a:xfrm>
            <a:off x="457200" y="2438400"/>
            <a:ext cx="11277600" cy="457200"/>
          </a:xfrm>
          <a:prstGeom prst="rect">
            <a:avLst/>
          </a:prstGeom>
          <a:noFill/>
        </p:spPr>
        <p:txBody>
          <a:bodyPr wrap="square" rtlCol="0" anchor="t">
            <a:noAutofit/>
          </a:bodyPr>
          <a:lstStyle/>
          <a:p>
            <a:pPr algn="ctr"/>
            <a:r>
              <a:rPr lang="es-PE" sz="1200" b="1" spc="400" dirty="0">
                <a:solidFill>
                  <a:schemeClr val="bg1"/>
                </a:solidFill>
                <a:latin typeface="Consolas"/>
              </a:rPr>
              <a:t>GRACIAS POR SU ATENCIÓN</a:t>
            </a:r>
          </a:p>
        </p:txBody>
      </p:sp>
      <p:sp>
        <p:nvSpPr>
          <p:cNvPr id="4" name="Tit"/>
          <p:cNvSpPr txBox="1"/>
          <p:nvPr/>
        </p:nvSpPr>
        <p:spPr>
          <a:xfrm>
            <a:off x="457200" y="3048000"/>
            <a:ext cx="11277600" cy="1219200"/>
          </a:xfrm>
          <a:prstGeom prst="rect">
            <a:avLst/>
          </a:prstGeom>
          <a:noFill/>
        </p:spPr>
        <p:txBody>
          <a:bodyPr wrap="square" rtlCol="0" anchor="t">
            <a:noAutofit/>
          </a:bodyPr>
          <a:lstStyle/>
          <a:p>
            <a:pPr algn="ctr"/>
            <a:r>
              <a:rPr lang="es-PE" sz="5000" b="1" spc="-30" dirty="0">
                <a:solidFill>
                  <a:srgbClr val="FFFFFF"/>
                </a:solidFill>
                <a:latin typeface="Calibri"/>
              </a:rPr>
              <a:t>IDC · ESP Diseño de Interiores</a:t>
            </a:r>
          </a:p>
        </p:txBody>
      </p:sp>
      <p:sp>
        <p:nvSpPr>
          <p:cNvPr id="5" name="Sub"/>
          <p:cNvSpPr txBox="1"/>
          <p:nvPr/>
        </p:nvSpPr>
        <p:spPr>
          <a:xfrm>
            <a:off x="457200" y="4419600"/>
            <a:ext cx="11277600" cy="457200"/>
          </a:xfrm>
          <a:prstGeom prst="rect">
            <a:avLst/>
          </a:prstGeom>
          <a:noFill/>
        </p:spPr>
        <p:txBody>
          <a:bodyPr wrap="square" rtlCol="0" anchor="t">
            <a:noAutofit/>
          </a:bodyPr>
          <a:lstStyle/>
          <a:p>
            <a:pPr algn="ctr"/>
            <a:r>
              <a:rPr lang="es-PE" sz="1500" dirty="0">
                <a:solidFill>
                  <a:srgbClr val="FBFAF6"/>
                </a:solidFill>
                <a:latin typeface="Calibri"/>
              </a:rPr>
              <a:t>VALENZUELA QUISPE, Alex David  ·  Docente orientador: Mg. Rojas Salinas, Patricia  ·  2026</a:t>
            </a:r>
          </a:p>
        </p:txBody>
      </p:sp>
      <p:sp>
        <p:nvSpPr>
          <p:cNvPr id="98" name="IA"/>
          <p:cNvSpPr txBox="1"/>
          <p:nvPr/>
        </p:nvSpPr>
        <p:spPr>
          <a:xfrm>
            <a:off x="9144000" y="6400800"/>
            <a:ext cx="2895600" cy="355600"/>
          </a:xfrm>
          <a:prstGeom prst="rect">
            <a:avLst/>
          </a:prstGeom>
          <a:noFill/>
        </p:spPr>
        <p:txBody>
          <a:bodyPr wrap="square" rtlCol="0" anchor="t">
            <a:noAutofit/>
          </a:bodyPr>
          <a:lstStyle/>
          <a:p>
            <a:pPr algn="r"/>
            <a:r>
              <a:rPr lang="es-PE" sz="900" spc="120" dirty="0">
                <a:solidFill>
                  <a:schemeClr val="bg1"/>
                </a:solidFill>
                <a:latin typeface="Consolas"/>
              </a:rPr>
              <a:t>IDC</a:t>
            </a:r>
          </a:p>
        </p:txBody>
      </p:sp>
      <p:pic>
        <p:nvPicPr>
          <p:cNvPr id="7" name="Imagen 6">
            <a:extLst>
              <a:ext uri="{FF2B5EF4-FFF2-40B4-BE49-F238E27FC236}">
                <a16:creationId xmlns:a16="http://schemas.microsoft.com/office/drawing/2014/main" id="{D659FAD3-A94C-A8B3-1E69-C7F156FCFA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7925" y="932388"/>
            <a:ext cx="2336147" cy="878425"/>
          </a:xfrm>
          <a:prstGeom prst="rect">
            <a:avLst/>
          </a:prstGeom>
        </p:spPr>
      </p:pic>
      <p:pic>
        <p:nvPicPr>
          <p:cNvPr id="6" name="Gráfico 5">
            <a:extLst>
              <a:ext uri="{FF2B5EF4-FFF2-40B4-BE49-F238E27FC236}">
                <a16:creationId xmlns:a16="http://schemas.microsoft.com/office/drawing/2014/main" id="{DA72635F-BBC7-F285-8756-70E4343820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60173" y="5382734"/>
            <a:ext cx="671654" cy="671654"/>
          </a:xfrm>
          <a:prstGeom prst="rect">
            <a:avLst/>
          </a:prstGeom>
        </p:spPr>
      </p:pic>
    </p:spTree>
  </p:cSld>
  <p:clrMapOvr>
    <a:masterClrMapping/>
  </p:clrMapOvr>
</p:sld>
</file>

<file path=ppt/theme/theme1.xml><?xml version="1.0" encoding="utf-8"?>
<a:theme xmlns:a="http://schemas.openxmlformats.org/drawingml/2006/main" name="IDC Modas TSP">
  <a:themeElements>
    <a:clrScheme name="IDC">
      <a:dk1>
        <a:srgbClr val="000000"/>
      </a:dk1>
      <a:lt1>
        <a:srgbClr val="FFFFFF"/>
      </a:lt1>
      <a:dk2>
        <a:srgbClr val="004F80"/>
      </a:dk2>
      <a:lt2>
        <a:srgbClr val="FBFAF6"/>
      </a:lt2>
      <a:accent1>
        <a:srgbClr val="E14A94"/>
      </a:accent1>
      <a:accent2>
        <a:srgbClr val="0072B9"/>
      </a:accent2>
      <a:accent3>
        <a:srgbClr val="F3A100"/>
      </a:accent3>
      <a:accent4>
        <a:srgbClr val="10B981"/>
      </a:accent4>
      <a:accent5>
        <a:srgbClr val="7C3AED"/>
      </a:accent5>
      <a:accent6>
        <a:srgbClr val="B5307A"/>
      </a:accent6>
      <a:hlink>
        <a:srgbClr val="0072B9"/>
      </a:hlink>
      <a:folHlink>
        <a:srgbClr val="7C3AED"/>
      </a:folHlink>
    </a:clrScheme>
    <a:fontScheme name="IDC">
      <a:majorFont>
        <a:latin typeface="Calibri"/>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TotalTime>
  <Words>1553</Words>
  <Application>Microsoft Office PowerPoint</Application>
  <PresentationFormat>Panorámica</PresentationFormat>
  <Paragraphs>113</Paragraphs>
  <Slides>15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Calibri</vt:lpstr>
      <vt:lpstr>Consolas</vt:lpstr>
      <vt:lpstr>IDC Modas TSP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mario quiroz</dc:creator>
  <cp:lastModifiedBy>Alumno - MARIO RAFAEL QUIROZ MARTINEZ</cp:lastModifiedBy>
  <cp:revision>11</cp:revision>
  <dcterms:modified xsi:type="dcterms:W3CDTF">2026-06-08T06:17:08Z</dcterms:modified>
</cp:coreProperties>
</file>
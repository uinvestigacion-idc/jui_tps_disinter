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PE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74"/>
    <a:srgbClr val="009C9D"/>
    <a:srgbClr val="009AD3"/>
    <a:srgbClr val="007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600" b="1">
          <a:solidFill>
            <a:srgbClr val="E14A94"/>
          </a:solidFill>
          <a:latin typeface="Calibri"/>
        </a:defRPr>
      </a:lvl1pPr>
    </p:titleStyle>
    <p:bodyStyle>
      <a:lvl1pPr>
        <a:defRPr sz="1800">
          <a:solidFill>
            <a:srgbClr val="333333"/>
          </a:solidFill>
          <a:latin typeface="Calibri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4A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C9D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BG2"/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0687944-0625-2361-C875-52137AF62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975" y="6197565"/>
            <a:ext cx="528119" cy="528119"/>
          </a:xfrm>
          <a:prstGeom prst="rect">
            <a:avLst/>
          </a:prstGeom>
        </p:spPr>
      </p:pic>
      <p:sp>
        <p:nvSpPr>
          <p:cNvPr id="4" name="Tag"/>
          <p:cNvSpPr txBox="1"/>
          <p:nvPr/>
        </p:nvSpPr>
        <p:spPr>
          <a:xfrm>
            <a:off x="457200" y="1412365"/>
            <a:ext cx="110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z="1100" b="1" spc="200" dirty="0">
                <a:solidFill>
                  <a:srgbClr val="FFFFFF"/>
                </a:solidFill>
                <a:latin typeface="Consolas"/>
              </a:rPr>
              <a:t>LICENCIADO POR MINEDU – RVM N° 164-2025</a:t>
            </a:r>
          </a:p>
        </p:txBody>
      </p:sp>
      <p:sp>
        <p:nvSpPr>
          <p:cNvPr id="6" name="Sub"/>
          <p:cNvSpPr txBox="1"/>
          <p:nvPr/>
        </p:nvSpPr>
        <p:spPr>
          <a:xfrm>
            <a:off x="457200" y="5005993"/>
            <a:ext cx="110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pc="160" dirty="0">
                <a:solidFill>
                  <a:srgbClr val="FBFAF6"/>
                </a:solidFill>
                <a:latin typeface="Consolas"/>
              </a:rPr>
              <a:t>Programa de Estudios Diseño de Interiores — TSP</a:t>
            </a:r>
          </a:p>
        </p:txBody>
      </p:sp>
      <p:sp>
        <p:nvSpPr>
          <p:cNvPr id="7" name="Tit"/>
          <p:cNvSpPr txBox="1"/>
          <p:nvPr/>
        </p:nvSpPr>
        <p:spPr>
          <a:xfrm>
            <a:off x="457200" y="2286000"/>
            <a:ext cx="11277600" cy="2438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z="4000" b="1" spc="-30" dirty="0">
                <a:solidFill>
                  <a:srgbClr val="FFFFFF"/>
                </a:solidFill>
                <a:latin typeface="Calibri"/>
              </a:rPr>
              <a:t>Diseño de colección cápsula sostenible mediante técnicas de upcycling para el mercado juvenil limeño, 2026</a:t>
            </a:r>
          </a:p>
        </p:txBody>
      </p:sp>
      <p:sp>
        <p:nvSpPr>
          <p:cNvPr id="8" name="Aut"/>
          <p:cNvSpPr txBox="1"/>
          <p:nvPr/>
        </p:nvSpPr>
        <p:spPr>
          <a:xfrm>
            <a:off x="914400" y="6134100"/>
            <a:ext cx="112776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2000" b="1" dirty="0">
                <a:solidFill>
                  <a:schemeClr val="bg1"/>
                </a:solidFill>
                <a:latin typeface="Calibri"/>
              </a:rPr>
              <a:t>Quispe Flores, María Fernanda</a:t>
            </a:r>
          </a:p>
        </p:txBody>
      </p:sp>
      <p:sp>
        <p:nvSpPr>
          <p:cNvPr id="9" name="Ase"/>
          <p:cNvSpPr txBox="1"/>
          <p:nvPr/>
        </p:nvSpPr>
        <p:spPr>
          <a:xfrm>
            <a:off x="914400" y="6477000"/>
            <a:ext cx="11277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200" spc="200" dirty="0">
                <a:solidFill>
                  <a:srgbClr val="FBFAF6"/>
                </a:solidFill>
                <a:latin typeface="Consolas"/>
              </a:rPr>
              <a:t>Asesor: Salazar Vásquez, Carmen  ·  Egresado 2024  ·  Lima – Perú 2026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chemeClr val="bg1"/>
                </a:solidFill>
                <a:latin typeface="Consolas"/>
              </a:rPr>
              <a:t>IDC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2948F3D-2A92-8D4F-DE0D-109098E9D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948" y="172587"/>
            <a:ext cx="3094504" cy="11635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F780A87B-E89D-0FE5-7C36-673EF3C4CD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>
              <a:solidFill>
                <a:srgbClr val="009C9D"/>
              </a:solidFill>
            </a:endParaRPr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02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9C9D"/>
                </a:solidFill>
                <a:latin typeface="Calibri"/>
              </a:rPr>
              <a:t>Dedicatoria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A mis padres, quienes con su esfuerzo me permitieron alcanzar esta meta. Su ejemplo de perseverancia es la guía de cada paso en mi carrera como diseñadora de modas.</a:t>
            </a:r>
          </a:p>
        </p:txBody>
      </p:sp>
      <p:sp>
        <p:nvSpPr>
          <p:cNvPr id="99" name="Pie"/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03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9C9D"/>
                </a:solidFill>
                <a:latin typeface="Calibri"/>
              </a:rPr>
              <a:t>Agradecimiento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Al IDC por la formación recibida. A mi asesora por su orientación metodológica. A Tierra Textil S.A.C. por la oportunidad de aplicar mis conocimientos en un proyecto real.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E9CCC119-83B8-57FA-F25A-59043AE95DB7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6348B95-14BD-1057-8679-26D2CE366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04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9C9D"/>
                </a:solidFill>
                <a:latin typeface="Calibri"/>
              </a:rPr>
              <a:t>Índice del Informe TSP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Dedicatoria (ii)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Agradecimiento (iii)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Índice (iv)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Resumen Ejecutivo (v)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Introducción (1)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Capítulo 1 — Marco Teórico (3)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Capítulo 2 — Contexto Laboral (7)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Capítulo 3 — Descripción de la Actividad Profesional (11)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Capítulo 4 — Evaluación y Plan de Mejora (18)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Conclusiones (24) · Recomendaciones (25)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Referencias (26) · Anexos (28)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001A055D-AB2C-2027-0157-1E8C5766F53D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C17ABB4-09EB-5985-875C-536857953A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05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9C9D"/>
                </a:solidFill>
                <a:latin typeface="Calibri"/>
              </a:rPr>
              <a:t>Resumen Ejecutivo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La presente experiencia profesional se desarrolló en el sector de la moda sostenible peruana, donde se diseñó una colección cápsula de ocho prendas utilizando técnicas de upcycling y materiales certificados GOTS. El proyecto se enmarcó en la línea de Moda Sostenible aplicando principios de economía circular. Los objetivos se cumplieron en un 95%, logrando validación con 92% de aceptación. La merma textil se redujo en 35% mediante patronaje zero-waste. La experiencia permitió fortalecer competencias en diseño de colecciones, gestión de proveedores sostenibles y prototipado en CLO3D.</a:t>
            </a:r>
          </a:p>
          <a:p>
            <a:pPr algn="l"/>
            <a:endParaRPr lang="es-PE" sz="160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Palabras clave: moda sostenible, upcycling, economía circular, slow fashion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9A0BAF2E-300D-E6AF-7B2D-954C5DE6DF60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6863791-A63B-BE01-14DF-53FE94933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747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06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9C9D"/>
                </a:solidFill>
                <a:latin typeface="Calibri"/>
              </a:rPr>
              <a:t>Introducción</a:t>
            </a:r>
          </a:p>
        </p:txBody>
      </p:sp>
      <p:sp>
        <p:nvSpPr>
          <p:cNvPr id="20" name="Body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El presente Informe del Trabajo de Suficiencia Profesional contextualiza la experiencia laboral desarrollada en el sector de la moda sostenible peruana, enmarcada en la Economía Naranja y el creciente interés del mercado por productos textiles de bajo impacto ambiental. A lo largo de este documento se describe el marco teórico, el contexto laboral, la descripción detallada de la actividad y la evaluación de resultados con su plan de mejora.</a:t>
            </a:r>
          </a:p>
          <a:p>
            <a:pPr algn="l"/>
            <a:endParaRPr lang="es-PE" sz="1600" dirty="0">
              <a:solidFill>
                <a:srgbClr val="333333"/>
              </a:solidFill>
              <a:latin typeface="Calibri"/>
            </a:endParaRPr>
          </a:p>
          <a:p>
            <a:pPr algn="l"/>
            <a:r>
              <a:rPr lang="es-PE" sz="1600" dirty="0">
                <a:solidFill>
                  <a:srgbClr val="333333"/>
                </a:solidFill>
                <a:latin typeface="Calibri"/>
              </a:rPr>
              <a:t>Evaluación: Examen Escrito 30% + Sustentación Oral 70%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1CD8EB88-4421-0E10-9711-FF3466D4E0A1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11A9BB8-2260-1689-D50B-7E64FFFF1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4F8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07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4F80"/>
                </a:solidFill>
                <a:latin typeface="Calibri"/>
              </a:rPr>
              <a:t>Cap. 1 — Marco Teórico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Bases teóricas: El proyecto se sustenta en los principios de la economía circular (Ellen MacArthur Foundation, 2021), aplicados al sector textil mediante upcycling, patronaje zero-waste y materiales certificados. Se integran los enfoques de moda sostenible (Fletcher, 2022) y diseño regenerativo (Wahl, 2023).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Antecedentes: A nivel nacional, los estudios de Jara (2023) y Mendoza (2022) abordan el impacto del upcycling en marcas peruanas. Internacionalmente, las investigaciones de Niinimäki et al. (2020) y Henninger et al. (2023) sistematizan las prácticas de moda circular en mercados emergentes.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Marco conceptual: Upcycling: proceso de revalorización creativa de materiales textiles descartados. Slow fashion: movimiento que promueve producción consciente y consumo responsable. Patronaje zero-waste: técnica de diseño que minimiza la merma textil a menos del 5%.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AC07B93E-AA62-CF42-0062-43A76CFFEF6F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F699296-18BF-5445-26C2-97881564E8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4F8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08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4F80"/>
                </a:solidFill>
                <a:latin typeface="Calibri"/>
              </a:rPr>
              <a:t>Cap. 2 — Contexto Laboral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Organización: Tierra Textil S.A.C. es una marca peruana independiente de moda sostenible fundada en 2019, con sede en Lima. Su rubro es el diseño, confección y comercialización de prendas con identidad cultural andina y bajo impacto ambiental.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Organigrama: La organización está estructurada en tres áreas: Dirección Creativa, Producción y Comercial. El área de Diseño depende directamente de Dirección Creativa.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• Asistente de diseño — Investigación de tendencias, digitalización de bocetos, fichas técnicas, prototipado CLO3D (Ene 2026 – Jun 2026)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46ADC5F8-EE60-6E2C-3FEC-D493ABDC00B9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7502790-158C-0B04-7ED1-6D4FA64D0F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4F8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09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4F80"/>
                </a:solidFill>
                <a:latin typeface="Calibri"/>
              </a:rPr>
              <a:t>Cap. 3 — Propósito del Proyecto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Target: Mujeres y hombres jóvenes de 22-32 años, residentes en Lima Metropolitana, NSE B y C+. Estilo de vida urbano, profesionales o universitarios, con interés por la sostenibilidad y el comercio justo.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Forecasting: Macro tendencia "Quiet Luxury" y "New Romanticism" (WGSN, 2025). Micro tendencias: paletas tierra y rosados polvo, siluetas fluidas y tejidos naturales reciclados, detalles artesanales.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Objetivo comercial / creativo: Comercialización en boutiques de moda sostenible de Lima y participación en el Lima Fashion Week 2026.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C1E75117-3580-8E81-B542-8051A293BD1B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495042A-20B8-0E0D-8970-51AF0D2C2E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4F8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10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4F80"/>
                </a:solidFill>
                <a:latin typeface="Calibri"/>
              </a:rPr>
              <a:t>Cap. 3 — Detalles Técnicos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343358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Concepto: Renacer andino — fusión de identidad cultural y materiales reciclados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Paleta: Pantone 18-1438 Marsala · 13-1023 Almond Cream · 19-4118 Ensign Blue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Texturas: Jacquard con motivos andinos · acabado peach skin · costuras destacadas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Materiales: Algodón orgánico certificado GOTS · denim reciclado · alpaca natural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Avíos: Botones de tagua · cierres reciclados YKK · forro de algodón orgánico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Tecnología: CLO3D para prototipado · Adobe Illustrator para fichas técnicas · patronaje zero-waste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2C4832FF-0A02-BA6B-9230-5BEA22E104E5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BE6C079-D50E-7088-8A76-772297A9B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04F8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11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004F80"/>
                </a:solidFill>
                <a:latin typeface="Calibri"/>
              </a:rPr>
              <a:t>Cap. 3 — Proceso por Fases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Fase 1 — Conceptualización: Elaboración de moodboard con referencias andinas contemporáneas, bocetaje de 24 figurines, selección de 8 modelos finales mediante codiseño con focus group.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Fase 2 — Desarrollo Técnico: Desarrollo de fichas técnicas detalladas, moldería en papel y digital, escalado en 4 tallas (S, M, L, XL), tizadas optimizadas para reducir merma.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Fase 3 — Producción: Corte de telas, confección de toiles, dos sesiones de fitting con modelos, correcciones de patronaje y confección final con acabados premium.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Fase 4 — Lanzamiento: Control de calidad final, producción de lookbook con sesión fotográfica, styling y participación en desfile de presentación de marca.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D35B63D0-8F2C-E19E-41F7-98B5258DC81D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9292804-A3AD-6879-E48E-7E2735F83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3A10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12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F3A100"/>
                </a:solidFill>
                <a:latin typeface="Calibri"/>
              </a:rPr>
              <a:t>Cap. 4 — Hallazgos relevantes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1 Reducción de merma textil en 35% mediante patronaje zero-waste [Técnico] · Alto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2 92% de aceptación del producto en focus group de segmento objetivo [Comercial] · Alto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3 Optimización del tiempo de desarrollo de 8 a 5 semanas con CLO3D [Creativo] · Medio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2745BBFF-C3A6-E6FD-7E76-64B9551103F4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71AF38D-0674-B398-FF77-D9413F759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3A100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13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F3A100"/>
                </a:solidFill>
                <a:latin typeface="Calibri"/>
              </a:rPr>
              <a:t>Cap. 4 — Plan de Mejora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Trazabilidad de materiales → Implementar blockchain para verificación de origen (Mediano)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Producción artesanal → Red de microfábricas distribuidas en Lima (Largo)</a:t>
            </a:r>
          </a:p>
          <a:p>
            <a:pPr algn="l"/>
            <a:r>
              <a:rPr lang="es-PE" sz="1500" dirty="0">
                <a:solidFill>
                  <a:srgbClr val="333333"/>
                </a:solidFill>
                <a:latin typeface="Calibri"/>
              </a:rPr>
              <a:t>•  Comunicación de marca → Storytelling sostenible con métricas (Corto)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2" name="Pie">
            <a:extLst>
              <a:ext uri="{FF2B5EF4-FFF2-40B4-BE49-F238E27FC236}">
                <a16:creationId xmlns:a16="http://schemas.microsoft.com/office/drawing/2014/main" id="{1124EAA5-4C48-54A1-81FD-95543EF2D5C8}"/>
              </a:ext>
            </a:extLst>
          </p:cNvPr>
          <p:cNvSpPr txBox="1"/>
          <p:nvPr/>
        </p:nvSpPr>
        <p:spPr>
          <a:xfrm>
            <a:off x="914400" y="6400800"/>
            <a:ext cx="8915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E8E244E-6A05-61DE-EA71-C474DCA801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Num"/>
          <p:cNvSpPr txBox="1"/>
          <p:nvPr/>
        </p:nvSpPr>
        <p:spPr>
          <a:xfrm>
            <a:off x="457200" y="228600"/>
            <a:ext cx="15000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100" b="1" spc="200" dirty="0">
                <a:solidFill>
                  <a:srgbClr val="7C3AED"/>
                </a:solidFill>
                <a:latin typeface="Consolas"/>
              </a:rPr>
              <a:t>14 / 15</a:t>
            </a:r>
          </a:p>
        </p:txBody>
      </p:sp>
      <p:sp>
        <p:nvSpPr>
          <p:cNvPr id="12" name="Tit"/>
          <p:cNvSpPr txBox="1"/>
          <p:nvPr/>
        </p:nvSpPr>
        <p:spPr>
          <a:xfrm>
            <a:off x="457200" y="609600"/>
            <a:ext cx="11277600" cy="990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3600" b="1" spc="-30" dirty="0">
                <a:solidFill>
                  <a:srgbClr val="7C3AED"/>
                </a:solidFill>
                <a:latin typeface="Calibri"/>
              </a:rPr>
              <a:t>Conclusiones y Recomendaciones</a:t>
            </a:r>
          </a:p>
        </p:txBody>
      </p:sp>
      <p:sp>
        <p:nvSpPr>
          <p:cNvPr id="20" name="List"/>
          <p:cNvSpPr txBox="1"/>
          <p:nvPr/>
        </p:nvSpPr>
        <p:spPr>
          <a:xfrm>
            <a:off x="457200" y="1828800"/>
            <a:ext cx="11277600" cy="426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1. Se confirma que integrar prácticas sostenibles en la industria de la moda peruana es técnicamente viable y comercialmente atractivo cuando se acompaña de una narrativa de marca coherente, cumpliendo el OE1.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2. El proceso de patronaje zero-waste permitió reducir la merma textil en 35%, validando la hipótesis del OE2 sobre la eficiencia productiva de las técnicas de diseño sostenible.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3. La validación con focus group obtuvo 92% de aceptación, superando la meta del OE3 (80%) y demostrando la viabilidad comercial de la propuesta en el segmento objetivo.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Sector: Se recomienda al sector textil peruano integrar programas de capacitación en diseño sostenible y herramientas digitales 3D para fortalecer la competitividad de las MYPES.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Empresa: Se sugiere implementar un sistema de trazabilidad blockchain por prenda para reforzar la narrativa sostenible y aumentar el valor percibido.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Profesionales: Se invita a los diseñadores a adoptar el patronaje zero-waste como práctica estándar y a colaborar con artesanos locales para preservar técnicas tradicionales.</a:t>
            </a:r>
          </a:p>
          <a:p>
            <a:pPr algn="l"/>
            <a:r>
              <a:rPr lang="es-PE" sz="1500">
                <a:solidFill>
                  <a:srgbClr val="333333"/>
                </a:solidFill>
                <a:latin typeface="Calibri"/>
              </a:rPr>
              <a:t>•  Academia: Se sugiere al IDC ampliar los convenios con empresas del sector moda y reforzar la formación en CLO3D y blockchain aplicado a la moda.</a:t>
            </a:r>
            <a:endParaRPr lang="es-PE" sz="15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rgbClr val="7C3AED"/>
                </a:solidFill>
                <a:latin typeface="Consolas"/>
              </a:rPr>
              <a:t>IDC</a:t>
            </a:r>
          </a:p>
        </p:txBody>
      </p:sp>
      <p:sp>
        <p:nvSpPr>
          <p:cNvPr id="3" name="Pie">
            <a:extLst>
              <a:ext uri="{FF2B5EF4-FFF2-40B4-BE49-F238E27FC236}">
                <a16:creationId xmlns:a16="http://schemas.microsoft.com/office/drawing/2014/main" id="{07A50EF6-C6EB-BC7C-F98A-B17712301EEB}"/>
              </a:ext>
            </a:extLst>
          </p:cNvPr>
          <p:cNvSpPr txBox="1"/>
          <p:nvPr/>
        </p:nvSpPr>
        <p:spPr>
          <a:xfrm>
            <a:off x="914400" y="6400800"/>
            <a:ext cx="108204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s-PE" sz="900" spc="120" dirty="0">
                <a:solidFill>
                  <a:srgbClr val="007474"/>
                </a:solidFill>
                <a:latin typeface="Consolas"/>
              </a:rPr>
              <a:t>Quispe Flores,  ·  TSP Diseño de Interiores IDC  ·  2026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0FBBA23-CD41-27AC-95B0-A2491B94E6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966" y="6321334"/>
            <a:ext cx="388850" cy="388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30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9C9D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3" name="Tag"/>
          <p:cNvSpPr txBox="1"/>
          <p:nvPr/>
        </p:nvSpPr>
        <p:spPr>
          <a:xfrm>
            <a:off x="457200" y="2438400"/>
            <a:ext cx="112776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z="1200" b="1" spc="400" dirty="0">
                <a:solidFill>
                  <a:schemeClr val="bg1"/>
                </a:solidFill>
                <a:latin typeface="Consolas"/>
              </a:rPr>
              <a:t>GRACIAS POR SU ATENCIÓN</a:t>
            </a:r>
          </a:p>
        </p:txBody>
      </p:sp>
      <p:sp>
        <p:nvSpPr>
          <p:cNvPr id="4" name="Tit"/>
          <p:cNvSpPr txBox="1"/>
          <p:nvPr/>
        </p:nvSpPr>
        <p:spPr>
          <a:xfrm>
            <a:off x="457200" y="3048000"/>
            <a:ext cx="11277600" cy="1219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z="5000" b="1" spc="-30" dirty="0">
                <a:solidFill>
                  <a:srgbClr val="FFFFFF"/>
                </a:solidFill>
                <a:latin typeface="Calibri"/>
              </a:rPr>
              <a:t>IDC · TSP Diseño de Interiores</a:t>
            </a:r>
          </a:p>
        </p:txBody>
      </p:sp>
      <p:sp>
        <p:nvSpPr>
          <p:cNvPr id="5" name="Sub"/>
          <p:cNvSpPr txBox="1"/>
          <p:nvPr/>
        </p:nvSpPr>
        <p:spPr>
          <a:xfrm>
            <a:off x="457200" y="4419600"/>
            <a:ext cx="11277600" cy="457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s-PE" sz="1500" dirty="0">
                <a:solidFill>
                  <a:srgbClr val="FBFAF6"/>
                </a:solidFill>
                <a:latin typeface="Calibri"/>
              </a:rPr>
              <a:t>Quispe Flores, María Fernanda  ·  Asesor: Salazar Vásquez, Carmen  ·  2026</a:t>
            </a:r>
          </a:p>
        </p:txBody>
      </p:sp>
      <p:sp>
        <p:nvSpPr>
          <p:cNvPr id="98" name="IA"/>
          <p:cNvSpPr txBox="1"/>
          <p:nvPr/>
        </p:nvSpPr>
        <p:spPr>
          <a:xfrm>
            <a:off x="9144000" y="6400800"/>
            <a:ext cx="2895600" cy="3556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s-PE" sz="900" spc="120" dirty="0">
                <a:solidFill>
                  <a:schemeClr val="bg1"/>
                </a:solidFill>
                <a:latin typeface="Consolas"/>
              </a:rPr>
              <a:t>IDC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59FAD3-A94C-A8B3-1E69-C7F156FCF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925" y="932388"/>
            <a:ext cx="2336147" cy="878425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A72635F-BBC7-F285-8756-70E4343820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0173" y="5382734"/>
            <a:ext cx="671654" cy="6716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DC Modas TSP">
  <a:themeElements>
    <a:clrScheme name="IDC">
      <a:dk1>
        <a:srgbClr val="000000"/>
      </a:dk1>
      <a:lt1>
        <a:srgbClr val="FFFFFF"/>
      </a:lt1>
      <a:dk2>
        <a:srgbClr val="004F80"/>
      </a:dk2>
      <a:lt2>
        <a:srgbClr val="FBFAF6"/>
      </a:lt2>
      <a:accent1>
        <a:srgbClr val="E14A94"/>
      </a:accent1>
      <a:accent2>
        <a:srgbClr val="0072B9"/>
      </a:accent2>
      <a:accent3>
        <a:srgbClr val="F3A100"/>
      </a:accent3>
      <a:accent4>
        <a:srgbClr val="10B981"/>
      </a:accent4>
      <a:accent5>
        <a:srgbClr val="7C3AED"/>
      </a:accent5>
      <a:accent6>
        <a:srgbClr val="B5307A"/>
      </a:accent6>
      <a:hlink>
        <a:srgbClr val="0072B9"/>
      </a:hlink>
      <a:folHlink>
        <a:srgbClr val="7C3AED"/>
      </a:folHlink>
    </a:clrScheme>
    <a:fontScheme name="IDC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1553</Words>
  <Application>Microsoft Office PowerPoint</Application>
  <PresentationFormat>Panorámica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Calibri</vt:lpstr>
      <vt:lpstr>Consolas</vt:lpstr>
      <vt:lpstr>IDC Modas TSP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mario quiroz</dc:creator>
  <cp:lastModifiedBy>Alumno - MARIO RAFAEL QUIROZ MARTINEZ</cp:lastModifiedBy>
  <cp:revision>11</cp:revision>
  <dcterms:modified xsi:type="dcterms:W3CDTF">2026-06-08T06:17:08Z</dcterms:modified>
</cp:coreProperties>
</file>